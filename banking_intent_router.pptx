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Track C: loss per epoch (4-10; epochs 1-3 omitted, both still falling)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solidFill>
              <a:srgbClr val="CADCFC"/>
            </a:solidFill>
            <a:ln w="254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9</c:v>
                  </c:pt>
                  <c:pt idx="6">
                    <c:v>10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0.349</c:v>
                </c:pt>
                <c:pt idx="1">
                  <c:v>0.198</c:v>
                </c:pt>
                <c:pt idx="2">
                  <c:v>0.114</c:v>
                </c:pt>
                <c:pt idx="3">
                  <c:v>0.071</c:v>
                </c:pt>
                <c:pt idx="4">
                  <c:v>0.048</c:v>
                </c:pt>
                <c:pt idx="5">
                  <c:v>0.033</c:v>
                </c:pt>
                <c:pt idx="6">
                  <c:v>0.027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4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9</c:v>
                  </c:pt>
                  <c:pt idx="6">
                    <c:v>10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0.395</c:v>
                </c:pt>
                <c:pt idx="1">
                  <c:v>0.342</c:v>
                </c:pt>
                <c:pt idx="2">
                  <c:v>0.326</c:v>
                </c:pt>
                <c:pt idx="3">
                  <c:v>0.338</c:v>
                </c:pt>
                <c:pt idx="4">
                  <c:v>0.345</c:v>
                </c:pt>
                <c:pt idx="5">
                  <c:v>0.34</c:v>
                </c:pt>
                <c:pt idx="6">
                  <c:v>0.339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4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472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12700" cap="flat">
              <a:solidFill>
                <a:srgbClr val="E8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5A647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64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 — TF-IDF</c:v>
                  </c:pt>
                  <c:pt idx="1">
                    <c:v>B — Frozen MiniLM</c:v>
                  </c:pt>
                  <c:pt idx="2">
                    <c:v>C — Fine-tuned DistilBERT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0.887</c:v>
                </c:pt>
                <c:pt idx="1">
                  <c:v>0.9212</c:v>
                </c:pt>
                <c:pt idx="2">
                  <c:v>0.9209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4"/>
          <c:min val="0.85"/>
        </c:scaling>
        <c:delete val="0"/>
        <c:axPos val="l"/>
        <c:majorGridlines>
          <c:spPr>
            <a:ln w="12700" cap="flat">
              <a:solidFill>
                <a:srgbClr val="E8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A6472"/>
                </a:solidFill>
                <a:latin typeface="Arial"/>
              </a:rPr>
              <a:t>Fraction of unknown queries correctly refused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Off-topic (CLINC)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— TF-IDF</c:v>
                  </c:pt>
                  <c:pt idx="1">
                    <c:v>B — MiniLM</c:v>
                  </c:pt>
                  <c:pt idx="2">
                    <c:v>C — DistilBERT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0.831</c:v>
                </c:pt>
                <c:pt idx="1">
                  <c:v>0.969</c:v>
                </c:pt>
                <c:pt idx="2">
                  <c:v>0.944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Held-out banking intents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— TF-IDF</c:v>
                  </c:pt>
                  <c:pt idx="1">
                    <c:v>B — MiniLM</c:v>
                  </c:pt>
                  <c:pt idx="2">
                    <c:v>C — DistilBERT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0.271</c:v>
                </c:pt>
                <c:pt idx="1">
                  <c:v>0.407</c:v>
                </c:pt>
                <c:pt idx="2">
                  <c:v>0.471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8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A6472"/>
                </a:solidFill>
                <a:latin typeface="Arial"/>
              </a:rPr>
              <a:t>Queries answered AND wrong, under character corruption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— TF-IDF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20%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0.063</c:v>
                </c:pt>
                <c:pt idx="1">
                  <c:v>0.152</c:v>
                </c:pt>
                <c:pt idx="2">
                  <c:v>0.19</c:v>
                </c:pt>
                <c:pt idx="3">
                  <c:v>0.335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— MiniLM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20%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0.055</c:v>
                </c:pt>
                <c:pt idx="1">
                  <c:v>0.078</c:v>
                </c:pt>
                <c:pt idx="2">
                  <c:v>0.052</c:v>
                </c:pt>
                <c:pt idx="3">
                  <c:v>0.04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 — DistilBERT</c:v>
                </c:pt>
              </c:strCache>
            </c:strRef>
          </c:tx>
          <c:spPr>
            <a:solidFill>
              <a:srgbClr val="CADCFC"/>
            </a:solidFill>
            <a:ln w="254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20%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0.053</c:v>
                </c:pt>
                <c:pt idx="1">
                  <c:v>0.08</c:v>
                </c:pt>
                <c:pt idx="2">
                  <c:v>0.083</c:v>
                </c:pt>
                <c:pt idx="3">
                  <c:v>0.06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is not which model classifies best. It is what an intent router does when the query is not one of the intents it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output from our own system. It is the failure we set out to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BANKING77 is real online-banking customer service data, not synthetic. We removed seven intents on purpose so we would have unknown queries that look exactly like known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classifier family across all three tracks, so any difference is attributable to the representation, not the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rules were fixed before test data was touched. That is what makes the test numbers meaningful.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Macro-F1 and accuracy coincide here because the test split is balanced at 40 per intent. The imbalance is in the training distribution, not in the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single score wins both regimes — energy dominates off-topic, entropy is better near-domain. Energy was fixed in advance and not switched after seeing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 corruption is the setting most hostile to a lexical model by construction — an out-of-vocabulary token is invisible to TF-IDF, while subword tokenisation degrades gradually.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app here. Three queries, in this order. The third one is the honest failure — show it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thesis. Four of our predictions going in were wrong — the data corrected every one of them, and that is recorded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745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Intent Router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what you don't know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customer-support intent classification with an explicit abstain mechanism — comparing three text representations on the same task.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Manal Fatima  ·  Boston Institute of Analytics  ·  Data Science &amp; AI Capstone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6676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3667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66760" y="2496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13,083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366760" y="2953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66760" y="3575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366760" y="4032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4654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366760" y="5111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classifier is forced to answer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router picks one of 70 intents. Softmax always sums to 1 — so a question about the stock market still gets routed somewhere, confidently.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2249424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“I don't know” output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2523744"/>
            <a:ext cx="5376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must be built on top of the probabilities, not learned as a 71st class.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3300984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is the easy case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575304"/>
            <a:ext cx="5376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case is a real banking question about a capability the model was never trained 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4352544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measure both, separately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626864"/>
            <a:ext cx="5376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Out-of-domain probes from CLINC150, and seven banking intents held out of training entirely.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4754880" cy="4023360"/>
          </a:xfrm>
          <a:prstGeom prst="roundRect">
            <a:avLst>
              <a:gd name="adj" fmla="val 2273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model has never seen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1920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atm kept my card and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didn't give it back”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132320" y="28346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9626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declined_cash_withdrawal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3310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67.6% confidence  ·  answered, not refused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0" y="3977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answer was “I cannot handle this — route to a human.”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bank queries, deliberately incomplete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53896"/>
            <a:ext cx="260604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13,083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35785"/>
            <a:ext cx="242316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BANKING77 queries (PolyAI, ACL 2020)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53896"/>
            <a:ext cx="260604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→ 70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1935785"/>
            <a:ext cx="242316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used; 7 held out as unknown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453896"/>
            <a:ext cx="260604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1935785"/>
            <a:ext cx="242316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imbalance ratio (35–187 / class)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453896"/>
            <a:ext cx="260604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1935785"/>
            <a:ext cx="242316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CLINC150 out-of-scope probes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4023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models (70 intents)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selection + abstain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in-scope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per intent — balanced by construction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ID-OOS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banking intents (near-domain unknown)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OOD-OOS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non-banking queries (far unknown)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452360" y="2743200"/>
            <a:ext cx="4206240" cy="3063240"/>
          </a:xfrm>
          <a:prstGeom prst="roundRect">
            <a:avLst>
              <a:gd name="adj" fmla="val 2985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EDA decided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680960" y="329184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length p99 = 53  →  max_length 64 (99.7% uncut)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5.34  →  macro-F1 as headline metric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overlap 6 of 3,079 (0.19%)  →  measured, reported, not removed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probes are shorter (8.7 vs 11.9 words)  →  a length confound the ID-OOS set avoids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51206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out: card_swallowed · contactless_not_working · virtual_card_not_working · card_acceptance · top_up_limits · receiving_money · lost_or_stolen_card — each chosen to leave a semantic sibling in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task, three representations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grams, min_df 2, sublinear tf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9,055 sparse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logistic regression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36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MiniLM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0" y="226771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embeddings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dense dimensions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logistic regression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536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66760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DistilBERT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66760" y="226771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distilbert-base-uncased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66.4M parameters updated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 trained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 — Track 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 · batch 32 · max_length 64 · AdamW, lr 3e-5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schedule, 10% warmup · gradient clipping 1.0 · mixed precision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Tesla T4 · 17 s per epoch · dynamic padding per batch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3703320"/>
            <a:ext cx="5166360" cy="1920240"/>
          </a:xfrm>
          <a:prstGeom prst="roundRect">
            <a:avLst>
              <a:gd name="adj" fmla="val 4762"/>
            </a:avLst>
          </a:prstGeom>
          <a:solidFill>
            <a:srgbClr val="F4F6FA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8862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 mechanism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42062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score = energy, −logsumexp(logits), fixed in advance from the OOD literature. Threshold = 5th percentile of validation confidence — a business decision to accept rejecting 5% of legitimate queries. The out-of-scope sets are touched exactly once, to measure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decisions made on validation only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2940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minimum validation loss, not best macro-F1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29400" y="17830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bottoms at epoch 6 and rises after, while macro-F1 stays flat to epoch 11. Loss is negative log-likelihood — a proper scoring rule — so epoch 6 is the calibration-optimal checkpoint. Slide 8 shows that this decision paid off.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29400" y="3063240"/>
            <a:ext cx="5029200" cy="2331720"/>
          </a:xfrm>
          <a:prstGeom prst="roundRect">
            <a:avLst>
              <a:gd name="adj" fmla="val 3922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one-standard-error rule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0" y="3566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1,430 validation rows the standard error is 0.0074. Six Track B candidates fell inside it — statistically indistinguishable. Naive argmax picked the top scorer and landed 0.85 points worse on test than the simplest model within one SE.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0" y="4754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on a small validation set is itself a form of overfitting.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— 2,800 IN-SCOPE QUERIES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bought nothing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400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837176"/>
            <a:ext cx="301752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0.0003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5292547"/>
            <a:ext cx="283464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B and 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794760" y="470916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94760" y="4837176"/>
            <a:ext cx="301752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0.0075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86200" y="5292547"/>
            <a:ext cx="283464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error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23760" y="14630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23760" y="178308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was trained contrastively on over a billion sentence pairs to place paraphrases near each other. Our 70 intents are paraphrase clusters — the representation already fit the task.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was pretrained only on masked language modelling. It has no notion of sentence similarity, and 8,103 examples were not enough to build one.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223760" y="4114800"/>
            <a:ext cx="443484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434340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model was pretrained FOR mattered more than whether we fine-tuned 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REJECTION AT 95%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Rejecting near-domain queries is far harder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46304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the finding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06640" y="182880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about the stock market is easy to refuse — it looks nothing like banking. A real customer asking about a swallowed card looks exactly like intents we kept.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06640" y="27889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held-out intents actually went (Track B)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3154680"/>
          <a:ext cx="4251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965960"/>
                <a:gridCol w="685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card_swallowed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declined_cash_withdrawal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lost_or_stolen_card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compromised_card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contactless_not_working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card_not_working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406640" y="420624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held-out intent collapsed onto a semantic sibling that stayed in training — the exact hypothesis behind choosing those seven, confirmed by data.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9834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Abstaining works: accuracy on accepted queries exceeds accuracy overall for every track (B: 0.921 → 0.935).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&amp; CALIBRATION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fails silently. Dense fails safe.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943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20% corruption both lose comparable raw accuracy (0.43 vs 0.47). MiniLM sheds coverage 0.96 → 0.19 as it loses accuracy; TF-IDF keeps answering 67% of queries and is right on half.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6656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temperature scaling on validation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783080"/>
          <a:ext cx="4892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77240"/>
                <a:gridCol w="1143000"/>
                <a:gridCol w="1143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before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 after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TF-IDF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MiniLM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DistilBERT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766560" y="342900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&lt; 1 means the linear tracks were UNDER-confident — a direct consequence of the L2 regularisation we selected.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arrived already calibrated, because we picked its checkpoint at minimum validation loss.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unchanged to four decimals — but max-softmax OOD AUROC fell 0.977 → 0.957. Calibration and separability are different objectives.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actually 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only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0.8871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ms  mean latency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  off-topic refused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361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— escalate 50%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0.9164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 ms  mean latency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  off-topic refused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5361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only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1874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0.9214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366760" y="23317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66760" y="26517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 ms  mean latency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2926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  off-topic refused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model first, escalate when unconfident. Escalating only the least-confident 22% already recovers 69% of the accuracy gap — nearly everything TF-IDF gets wrong, it is already unsure about.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79476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4F6FA"/>
          </a:solidFill>
          <a:ln w="12700">
            <a:solidFill>
              <a:srgbClr val="E2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Streamlit, three models side by side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0" y="42976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card has not arrived”  →  all three correct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has the dow changed today”  →  all three abstain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atm kept my card”  →  all three confidently wrong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800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shows the energy score, the threshold, the top-3 intents, and measured latency.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yet show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intents, not 77 — not directly comparable to published BANKING77 numbers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small (13–28 per class); differences under 0.75 points are not interpreted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probes are systematically shorter than in-domain text — a partial confound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used synthetic corruption, not real user typos or code-switching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was never fine-tuned, so the comparison is not a clean 2×2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92240" y="164592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potential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2011680"/>
            <a:ext cx="5166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deployed LLM support agent needs a gate deciding whether a query is in scope — this is that layer, measured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MiniLM itself to complete the 2×2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rejection score conditional on expected out-of-scope type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Roman Urdu / code-switched evaluation set for Pakistani deployment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 to decouple serving from the transformers version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2C377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router that knows when to stop answering is worth more than one that is slightly more accurate.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Intent Router</dc:title>
  <dc:subject>PptxGenJS Presentation</dc:subject>
  <dc:creator>Manal Fatima</dc:creator>
  <cp:lastModifiedBy>Manal Fatima</cp:lastModifiedBy>
  <cp:revision>1</cp:revision>
  <dcterms:created xsi:type="dcterms:W3CDTF">2026-08-18T12:24:15Z</dcterms:created>
  <dcterms:modified xsi:type="dcterms:W3CDTF">2026-08-18T12:24:15Z</dcterms:modified>
</cp:coreProperties>
</file>